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293B"/>
                </a:solidFill>
              </a:defRPr>
            </a:pPr>
            <a:r>
              <a:t>HITL AI-Driven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How PM, Architect, Developers, and Claude work together</a:t>
            </a:r>
            <a:br/>
            <a:r>
              <a:t>to meticulously evolve a system — quality over speed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57200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392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</a:defRPr>
            </a:pPr>
            <a:r>
              <a:t>Slack is for humans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3920" y="5074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People discuss with people.</a:t>
            </a:r>
            <a:br/>
            <a:r>
              <a:t>@claude-bot only speaks when tagged.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57200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56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333EA"/>
                </a:solidFill>
              </a:defRPr>
            </a:pPr>
            <a:r>
              <a:t>Personal Claude → GitHub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560" y="5074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Each dev's Claude reads/writes code</a:t>
            </a:r>
            <a:br/>
            <a:r>
              <a:t>via GitHub. Never posts to Slack.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57200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2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97706"/>
                </a:solidFill>
              </a:defRPr>
            </a:pPr>
            <a:r>
              <a:t>@claude-bot is the 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5074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Translates concluded decisions into</a:t>
            </a:r>
            <a:br/>
            <a:r>
              <a:t>GitHub artifacts. Humans decide.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457200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8784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Quality over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7840" y="50749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Fewer problems, not faster deployment.</a:t>
            </a:r>
            <a:br/>
            <a:r>
              <a:t>Every step prevents a failure mode.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Team Collaboration — Who Does What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560320" cy="5303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</a:defRPr>
            </a:pPr>
            <a:r>
              <a:t>TEAM (HUMANS)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4360" y="179324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424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Product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4564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Defines what and why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2148840"/>
            <a:ext cx="822960" cy="201168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600" b="0">
                <a:solidFill>
                  <a:srgbClr val="9333EA"/>
                </a:solidFill>
              </a:defRPr>
            </a:pPr>
            <a:r>
              <a:t>+ Claude instance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4360" y="2844800"/>
            <a:ext cx="365760" cy="36576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940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9720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Designs, reviews, gates PRs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200400"/>
            <a:ext cx="822960" cy="201168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600" b="0">
                <a:solidFill>
                  <a:srgbClr val="9333EA"/>
                </a:solidFill>
              </a:defRPr>
            </a:pPr>
            <a:r>
              <a:t>+ Claude instance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9476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89636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D1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4556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Developer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4876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Vertical slice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51960"/>
            <a:ext cx="822960" cy="201168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600" b="0">
                <a:solidFill>
                  <a:srgbClr val="9333EA"/>
                </a:solidFill>
              </a:defRPr>
            </a:pPr>
            <a:r>
              <a:t>+ Claude instance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46320"/>
            <a:ext cx="21945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4947920"/>
            <a:ext cx="365760" cy="3657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D2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8971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Developer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00320"/>
            <a:ext cx="1463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</a:defRPr>
            </a:pPr>
            <a:r>
              <a:t>Vertical slice owner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303520"/>
            <a:ext cx="822960" cy="201168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600" b="0">
                <a:solidFill>
                  <a:srgbClr val="9333EA"/>
                </a:solidFill>
              </a:defRPr>
            </a:pPr>
            <a:r>
              <a:t>+ Claude instance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10972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</a:defRPr>
            </a:pPr>
            <a:r>
              <a:t>SLACK — WHERE HUMANS DISCUSS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1645920"/>
            <a:ext cx="384048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200" b="1">
                <a:solidFill>
                  <a:srgbClr val="D97706"/>
                </a:solidFill>
              </a:defRPr>
            </a:pPr>
            <a:r>
              <a:t>#design-room</a:t>
            </a:r>
          </a:p>
        </p:txBody>
      </p:sp>
      <p:sp>
        <p:nvSpPr>
          <p:cNvPr id="28" name="Oval 27"/>
          <p:cNvSpPr/>
          <p:nvPr/>
        </p:nvSpPr>
        <p:spPr>
          <a:xfrm>
            <a:off x="4114800" y="219456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PM</a:t>
            </a:r>
          </a:p>
        </p:txBody>
      </p:sp>
      <p:sp>
        <p:nvSpPr>
          <p:cNvPr id="29" name="Oval 28"/>
          <p:cNvSpPr/>
          <p:nvPr/>
        </p:nvSpPr>
        <p:spPr>
          <a:xfrm>
            <a:off x="4617720" y="219456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AR</a:t>
            </a:r>
          </a:p>
        </p:txBody>
      </p:sp>
      <p:sp>
        <p:nvSpPr>
          <p:cNvPr id="30" name="Oval 29"/>
          <p:cNvSpPr/>
          <p:nvPr/>
        </p:nvSpPr>
        <p:spPr>
          <a:xfrm>
            <a:off x="5120640" y="2194560"/>
            <a:ext cx="320040" cy="3200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D1</a:t>
            </a:r>
          </a:p>
        </p:txBody>
      </p:sp>
      <p:sp>
        <p:nvSpPr>
          <p:cNvPr id="31" name="Oval 30"/>
          <p:cNvSpPr/>
          <p:nvPr/>
        </p:nvSpPr>
        <p:spPr>
          <a:xfrm>
            <a:off x="5623560" y="2194560"/>
            <a:ext cx="320040" cy="32004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D2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2194560"/>
            <a:ext cx="320040" cy="32004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</a:defRPr>
            </a:pPr>
            <a:r>
              <a:t>Humans talk to humans. @claude-bot is tagged one at a time when AI input is needed.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0" y="365760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6A34A"/>
                </a:solidFill>
              </a:defRPr>
            </a:pPr>
            <a:r>
              <a:t>GITHUB — SOURCE OF TRUTH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4114800"/>
            <a:ext cx="44805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1880" y="4127500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293B"/>
                </a:solidFill>
              </a:defRPr>
            </a:pPr>
            <a:r>
              <a:t>📝  Documentation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0" y="4267200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4748B"/>
                </a:solidFill>
              </a:defRPr>
            </a:pPr>
            <a:r>
              <a:t>HLDs, LLDs, ADRs, System Manifest, Training Plans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74720" y="4544568"/>
            <a:ext cx="44805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1880" y="4557268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293B"/>
                </a:solidFill>
              </a:defRPr>
            </a:pPr>
            <a:r>
              <a:t>💻  Source Code +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4696968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4748B"/>
                </a:solidFill>
              </a:defRPr>
            </a:pPr>
            <a:r>
              <a:t>Generated from docs. Convention-checked.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4974336"/>
            <a:ext cx="44805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1880" y="4987036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293B"/>
                </a:solidFill>
              </a:defRPr>
            </a:pPr>
            <a:r>
              <a:t>🏗️  IaC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0" y="5126736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4748B"/>
                </a:solidFill>
              </a:defRPr>
            </a:pPr>
            <a:r>
              <a:t>Terraform, Kustomize, ESO secrets, CronJobs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74720" y="5404104"/>
            <a:ext cx="44805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80" y="5416804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293B"/>
                </a:solidFill>
              </a:defRPr>
            </a:pPr>
            <a:r>
              <a:t>🔀  Pull Requests = Decision Gates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31920" y="5556504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4748B"/>
                </a:solidFill>
              </a:defRPr>
            </a:pPr>
            <a:r>
              <a:t>Design PR merges before code starts.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5833872"/>
            <a:ext cx="4480560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5846572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E293B"/>
                </a:solidFill>
              </a:defRPr>
            </a:pPr>
            <a:r>
              <a:t>🎫  Issues + ROI Tracking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31920" y="5986272"/>
            <a:ext cx="3840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64748B"/>
                </a:solidFill>
              </a:defRPr>
            </a:pPr>
            <a:r>
              <a:t>ROI estimate at creation. 30/90-day verification.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86800" y="1097280"/>
            <a:ext cx="3200400" cy="5303520"/>
          </a:xfrm>
          <a:prstGeom prst="roundRect">
            <a:avLst>
              <a:gd name="adj" fmla="val 5000"/>
            </a:avLst>
          </a:prstGeom>
          <a:solidFill>
            <a:srgbClr val="F3E8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69680" y="1188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9333EA"/>
                </a:solidFill>
              </a:defRPr>
            </a:pPr>
            <a:r>
              <a:t>PRODUCTION — GCP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1691640"/>
            <a:ext cx="2834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17297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🖥️  Management Server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1920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Traefik, Grafana, Prometheus,</a:t>
            </a:r>
            <a:br/>
            <a:r>
              <a:t>Loki, Tempo, OTEL, OpenCost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69680" y="2651760"/>
            <a:ext cx="2834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06840" y="26898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⚙️  GKE Cluster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2880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App + GPU node pools.</a:t>
            </a:r>
            <a:br/>
            <a:r>
              <a:t>Scale-to-zero. Deployed via IaC.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869680" y="3611880"/>
            <a:ext cx="2834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06840" y="36499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📦  GCS Storage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38404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Assets, state snapshots,</a:t>
            </a:r>
            <a:br/>
            <a:r>
              <a:t>model artifacts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69680" y="4572000"/>
            <a:ext cx="2834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006840" y="46101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📊  Observability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06840" y="4800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Langfuse traces + Grafana.</a:t>
            </a:r>
            <a:br/>
            <a:r>
              <a:t>ROI metrics measured here.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69680" y="5532120"/>
            <a:ext cx="28346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06840" y="55702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E293B"/>
                </a:solidFill>
              </a:defRPr>
            </a:pPr>
            <a:r>
              <a:t>🚀  Canary Deployment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5760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</a:defRPr>
            </a:pPr>
            <a:r>
              <a:t>Risk-rated rollout via mgmt server.</a:t>
            </a:r>
            <a:br/>
            <a:r>
              <a:t>AI monitors go/no-go criteria.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2011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97706"/>
                </a:solidFill>
              </a:defRPr>
            </a:pPr>
            <a: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0" y="3246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</a:defRPr>
            </a:pPr>
            <a:r>
              <a:t>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9333EA"/>
                </a:solidFill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The 22-Step HITL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20 steps to merge + 2 post-ship verification checkpoints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1645920" cy="36576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91640"/>
            <a:ext cx="1645920" cy="43891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0520" y="1874519"/>
            <a:ext cx="14935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1. GitHub Issue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0520" y="2377439"/>
            <a:ext cx="14935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2. Design spec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280160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1691640"/>
            <a:ext cx="2103120" cy="43891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79320" y="1874519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3. Impact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79320" y="2377439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4. ROI estimate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79320" y="2880360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5. Update docs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79320" y="3383280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6. Update IaC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79320" y="3886200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7. Test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79320" y="4389120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8. Training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280160"/>
            <a:ext cx="2377440" cy="36576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691640"/>
            <a:ext cx="2377440" cy="4389120"/>
          </a:xfrm>
          <a:prstGeom prst="roundRect">
            <a:avLst>
              <a:gd name="adj" fmla="val 5000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65320" y="1874519"/>
            <a:ext cx="222504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9. Code generation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65320" y="2377439"/>
            <a:ext cx="222504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10. Review Round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65320" y="2880360"/>
            <a:ext cx="222504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11.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65320" y="3383280"/>
            <a:ext cx="222504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12. Run suite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65320" y="3886200"/>
            <a:ext cx="222504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13. Review Round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65320" y="4389120"/>
            <a:ext cx="222504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14. Rerun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5320" y="4892040"/>
            <a:ext cx="222504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15. Reconcile 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1280160"/>
            <a:ext cx="1645920" cy="365760"/>
          </a:xfrm>
          <a:prstGeom prst="roundRect">
            <a:avLst>
              <a:gd name="adj" fmla="val 500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Assess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1691640"/>
            <a:ext cx="1645920" cy="4389120"/>
          </a:xfrm>
          <a:prstGeom prst="roundRect">
            <a:avLst>
              <a:gd name="adj" fmla="val 5000"/>
            </a:avLst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25640" y="1874519"/>
            <a:ext cx="14935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16. Impact brief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25640" y="2377439"/>
            <a:ext cx="14935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17. Rollout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1280160"/>
            <a:ext cx="2103120" cy="365760"/>
          </a:xfrm>
          <a:prstGeom prst="roundRect">
            <a:avLst>
              <a:gd name="adj" fmla="val 5000"/>
            </a:avLst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Ship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1691640"/>
            <a:ext cx="2103120" cy="4389120"/>
          </a:xfrm>
          <a:prstGeom prst="roundRect">
            <a:avLst>
              <a:gd name="adj" fmla="val 5000"/>
            </a:avLst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854440" y="1874519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18. Create PR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54440" y="2377439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19. Integration verify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54440" y="2880360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20. Canary deploy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54440" y="3383280"/>
            <a:ext cx="19507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21. Promote/rollback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32004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64240" y="1280160"/>
            <a:ext cx="1645920" cy="365760"/>
          </a:xfrm>
          <a:prstGeom prst="roundRect">
            <a:avLst>
              <a:gd name="adj" fmla="val 5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Post-ship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064240" y="1691640"/>
            <a:ext cx="1645920" cy="43891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140440" y="1874519"/>
            <a:ext cx="14935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22. 30-day ROI check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140440" y="2377439"/>
            <a:ext cx="14935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defRPr sz="800" b="0">
                <a:solidFill>
                  <a:srgbClr val="1E293B"/>
                </a:solidFill>
              </a:defRPr>
            </a:pPr>
            <a:r>
              <a:t>23. 90-day ROI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293B"/>
                </a:solidFill>
              </a:defRPr>
            </a:pPr>
            <a:r>
              <a:t>Three Boundaries That Make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</a:defRPr>
            </a:pPr>
            <a:r>
              <a:t>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Slack is for humans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People discuss with people in #design-room.</a:t>
            </a:r>
            <a:br/>
            <a:br/>
            <a:r>
              <a:t>@claude-bot only speaks when tagged — one person at a time.</a:t>
            </a:r>
            <a:br/>
            <a:br/>
            <a:r>
              <a:t>No unsolicited AI chatter. No bot-to-bot conversations.</a:t>
            </a:r>
            <a:br/>
            <a:br/>
            <a:r>
              <a:t>Decisions are made by humans in the thread.</a:t>
            </a:r>
            <a:br/>
            <a:br/>
            <a:r>
              <a:t>When the team concludes, they tag @claude-bot to write it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</a:defRPr>
            </a:pPr>
            <a: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333EA"/>
                </a:solidFill>
              </a:defRPr>
            </a:pPr>
            <a:r>
              <a:t>Personal Claude talks to GitHub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3774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008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Each developer has their own Claude Code instance.</a:t>
            </a:r>
            <a:br/>
            <a:br/>
            <a:r>
              <a:t>These instances read docs + code FROM GitHub.</a:t>
            </a:r>
            <a:br/>
            <a:r>
              <a:t>They write code + tests TO GitHub.</a:t>
            </a:r>
            <a:br/>
            <a:br/>
            <a:r>
              <a:t>They NEVER post to Slack.</a:t>
            </a:r>
            <a:br/>
            <a:br/>
            <a:r>
              <a:t>The code in GitHub is what matters,</a:t>
            </a:r>
            <a:br/>
            <a:r>
              <a:t>not what someone's local AI suggested.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188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1E293B"/>
                </a:solidFill>
              </a:defRPr>
            </a:pPr>
            <a:r>
              <a:t>✍️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288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@claude-bot is the scribe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77440"/>
            <a:ext cx="3474720" cy="38404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056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t>Its primary job: translate concluded decisions</a:t>
            </a:r>
            <a:br/>
            <a:r>
              <a:t>into GitHub artifacts.</a:t>
            </a:r>
            <a:br/>
            <a:br/>
            <a:r>
              <a:t>• Updates issues with discussion summaries</a:t>
            </a:r>
            <a:br/>
            <a:r>
              <a:t>• Drafts doc changes as PRs</a:t>
            </a:r>
            <a:br/>
            <a:r>
              <a:t>• Opens implementation PRs from approved LLDs</a:t>
            </a:r>
            <a:br/>
            <a:br/>
            <a:r>
              <a:t>Humans decide. Bot writes it down.</a:t>
            </a:r>
            <a:br/>
            <a:r>
              <a:t>Humans merge. Bot never merges.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